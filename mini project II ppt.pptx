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hRwB2nbHnSFOBlXzIR2Sei2Ul+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C3A0A9-3273-47C8-B794-C4EF99520175}">
  <a:tblStyle styleId="{17C3A0A9-3273-47C8-B794-C4EF9952017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0cf035dbfd_0_2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g30cf035dbfd_0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ff618544b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2" name="Google Shape;232;g2ff618544b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9" name="Google Shape;25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0cf035dbfd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g30cf035dbf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0cf035dbfd_0_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" name="Google Shape;279;g30cf035dbfd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0cf035dbfd_0_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9" name="Google Shape;289;g30cf035dbfd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0cf035dbfd_0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9" name="Google Shape;299;g30cf035dbfd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7" name="Google Shape;30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836032" y="1236704"/>
            <a:ext cx="9144000" cy="1007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>
                <a:latin typeface="Cambria"/>
                <a:ea typeface="Cambria"/>
                <a:cs typeface="Cambria"/>
                <a:sym typeface="Cambria"/>
              </a:rPr>
              <a:t>Academic Year 2024 - 25 </a:t>
            </a:r>
            <a:br>
              <a:rPr lang="en-US" sz="1800" b="1">
                <a:latin typeface="Cambria"/>
                <a:ea typeface="Cambria"/>
                <a:cs typeface="Cambria"/>
                <a:sym typeface="Cambria"/>
              </a:rPr>
            </a:br>
            <a:r>
              <a:rPr lang="en-US" sz="18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S5 MINI PROJECT - I</a:t>
            </a:r>
            <a:br>
              <a:rPr lang="en-US" sz="18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1800" b="1">
                <a:latin typeface="Cambria"/>
                <a:ea typeface="Cambria"/>
                <a:cs typeface="Cambria"/>
                <a:sym typeface="Cambria"/>
              </a:rPr>
              <a:t>Second Review </a:t>
            </a:r>
            <a:endParaRPr sz="18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836032" y="2204425"/>
            <a:ext cx="9144000" cy="127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400"/>
              <a:buNone/>
            </a:pPr>
            <a:r>
              <a:rPr lang="en-US" b="1" dirty="0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PROJECT TITLE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GB" dirty="0"/>
              <a:t>GROWBRIDGE – A PLATFORM FOR CONNECTING STARTUPS AND INVESTORS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44435" y="0"/>
            <a:ext cx="7675419" cy="130862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180109" y="5015883"/>
            <a:ext cx="5226900" cy="155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BATCH MEMBERS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Arial"/>
              <a:buNone/>
            </a:pPr>
            <a:r>
              <a:rPr lang="en-US" sz="2400" b="1" dirty="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SARVESH S(7376221CS299)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buClr>
                <a:srgbClr val="7030A0"/>
              </a:buClr>
              <a:buSzPct val="100000"/>
            </a:pPr>
            <a:r>
              <a:rPr lang="en-US" sz="2400" b="1" dirty="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KALAIVANI K(7376221CS183)</a:t>
            </a:r>
            <a:endParaRPr lang="en-US" sz="3200" b="1" dirty="0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Clr>
                <a:srgbClr val="7030A0"/>
              </a:buClr>
              <a:buSzPct val="100000"/>
            </a:pPr>
            <a:r>
              <a:rPr lang="en-US" sz="2400" b="1" dirty="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GOKUL SREE R(7376221CS154)</a:t>
            </a:r>
            <a:endParaRPr lang="en-US" sz="2400" b="1" i="0" u="none" strike="noStrike" cap="none" dirty="0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Clr>
                <a:srgbClr val="7030A0"/>
              </a:buClr>
              <a:buSzPct val="100000"/>
            </a:pPr>
            <a:r>
              <a:rPr lang="en-US" sz="2400" b="1" dirty="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NAREN SHANKAR N(7376221CS239)</a:t>
            </a:r>
            <a:endParaRPr lang="en-US" sz="3200" b="1" dirty="0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771255" y="5126181"/>
            <a:ext cx="5032800" cy="14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GUIDE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lang="en-US" sz="1800" b="1" i="0" u="none" strike="noStrike" cap="none" dirty="0" err="1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Dr</a:t>
            </a:r>
            <a:r>
              <a:rPr lang="en-US" sz="1800" b="1" i="0" u="none" strike="noStrike" cap="none" dirty="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 GANAGAVALLI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Associate Professor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Department of Computer Science Engineering</a:t>
            </a:r>
            <a:endParaRPr sz="24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446298" y="3994171"/>
            <a:ext cx="29373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BIP PROJECT ID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rgbClr val="2F5496"/>
                </a:solidFill>
                <a:latin typeface="Cambria"/>
                <a:ea typeface="Cambria"/>
                <a:sym typeface="Cambria"/>
              </a:rPr>
              <a:t>8294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6218805" y="3994171"/>
            <a:ext cx="6137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CATERGORY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INTERNAL</a:t>
            </a:r>
            <a:endParaRPr sz="18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>
            <a:spLocks noGrp="1"/>
          </p:cNvSpPr>
          <p:nvPr>
            <p:ph type="body" idx="1"/>
          </p:nvPr>
        </p:nvSpPr>
        <p:spPr>
          <a:xfrm>
            <a:off x="838200" y="983673"/>
            <a:ext cx="10515600" cy="519329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1430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Aim:</a:t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develop an intelligent platform that bridges the gap between startups and investors using AI-powered recommendations.</a:t>
            </a:r>
          </a:p>
          <a:p>
            <a:pPr marL="114300" indent="0">
              <a:buNone/>
            </a:pPr>
            <a:r>
              <a:rPr lang="en-US" sz="24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Objectives: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Design a centralized system to connect investors and startups.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Implement a content-based filtering recommendation engine to suggest suitable matches.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Enable smooth communication through a secure messaging system.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Enhance discoverability and visibility of startups based on investor preferences</a:t>
            </a:r>
          </a:p>
          <a:p>
            <a:pPr marL="114300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0" name="Google Shape;10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08-04-2025</a:t>
            </a:r>
            <a:endParaRPr sz="1800" b="1" dirty="0">
              <a:solidFill>
                <a:srgbClr val="385623"/>
              </a:solidFill>
            </a:endParaRPr>
          </a:p>
        </p:txBody>
      </p:sp>
      <p:sp>
        <p:nvSpPr>
          <p:cNvPr id="101" name="Google Shape;10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>
                <a:solidFill>
                  <a:srgbClr val="385623"/>
                </a:solidFill>
              </a:rPr>
              <a:t>SECOND REVIEW PRESENTATION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02" name="Google Shape;10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 b="1">
                <a:solidFill>
                  <a:srgbClr val="385623"/>
                </a:solidFill>
              </a:rPr>
              <a:t>2</a:t>
            </a:fld>
            <a:endParaRPr sz="1800" b="1">
              <a:solidFill>
                <a:srgbClr val="385623"/>
              </a:solidFill>
            </a:endParaRPr>
          </a:p>
        </p:txBody>
      </p:sp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57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AIM &amp; OBJECTIVES OF THE PROJECT </a:t>
            </a:r>
            <a:br>
              <a:rPr lang="en-US" sz="24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(Problem Statement)</a:t>
            </a:r>
            <a:endParaRPr sz="24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>
            <a:spLocks noGrp="1"/>
          </p:cNvSpPr>
          <p:nvPr>
            <p:ph type="title"/>
          </p:nvPr>
        </p:nvSpPr>
        <p:spPr>
          <a:xfrm>
            <a:off x="838200" y="240435"/>
            <a:ext cx="10515600" cy="270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Cambria"/>
              <a:buNone/>
            </a:pPr>
            <a:r>
              <a:rPr lang="en-US" sz="36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LITERATURE SURVEY </a:t>
            </a:r>
            <a:endParaRPr sz="36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9" name="Google Shape;109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20-07-2023</a:t>
            </a:r>
            <a:endParaRPr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>
            <a:spLocks noGrp="1"/>
          </p:cNvSpPr>
          <p:nvPr>
            <p:ph type="ftr" idx="11"/>
          </p:nvPr>
        </p:nvSpPr>
        <p:spPr>
          <a:xfrm>
            <a:off x="4246421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FIRST REVIEW PRESENTATION</a:t>
            </a:r>
            <a:endParaRPr sz="18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rgbClr val="0070C0"/>
                </a:solidFill>
              </a:rPr>
              <a:t>3</a:t>
            </a:fld>
            <a:endParaRPr sz="1800">
              <a:solidFill>
                <a:srgbClr val="0070C0"/>
              </a:solidFill>
            </a:endParaRPr>
          </a:p>
        </p:txBody>
      </p:sp>
      <p:graphicFrame>
        <p:nvGraphicFramePr>
          <p:cNvPr id="112" name="Google Shape;112;p2"/>
          <p:cNvGraphicFramePr/>
          <p:nvPr>
            <p:extLst>
              <p:ext uri="{D42A27DB-BD31-4B8C-83A1-F6EECF244321}">
                <p14:modId xmlns:p14="http://schemas.microsoft.com/office/powerpoint/2010/main" val="2624046330"/>
              </p:ext>
            </p:extLst>
          </p:nvPr>
        </p:nvGraphicFramePr>
        <p:xfrm>
          <a:off x="159799" y="647354"/>
          <a:ext cx="11700768" cy="6035070"/>
        </p:xfrm>
        <a:graphic>
          <a:graphicData uri="http://schemas.openxmlformats.org/drawingml/2006/table">
            <a:tbl>
              <a:tblPr firstRow="1" bandRow="1">
                <a:noFill/>
                <a:tableStyleId>{17C3A0A9-3273-47C8-B794-C4EF99520175}</a:tableStyleId>
              </a:tblPr>
              <a:tblGrid>
                <a:gridCol w="851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8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5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5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99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Sl.No.</a:t>
                      </a:r>
                      <a:endParaRPr sz="1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Journal Paper Title with Author </a:t>
                      </a:r>
                      <a:endParaRPr sz="1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Works carried out 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( with details of Methods/ Materials/ Software/ Algorithms / fabrication / techniques/ components used ) </a:t>
                      </a:r>
                      <a:endParaRPr sz="1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Information gathered relevant to your project</a:t>
                      </a:r>
                      <a:endParaRPr sz="1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dirty="0"/>
                        <a:t>A. </a:t>
                      </a:r>
                      <a:r>
                        <a:rPr lang="en-US" sz="1800" dirty="0" err="1"/>
                        <a:t>Bedi</a:t>
                      </a:r>
                      <a:r>
                        <a:rPr lang="en-US" sz="1800" dirty="0"/>
                        <a:t>, K. </a:t>
                      </a:r>
                      <a:r>
                        <a:rPr lang="en-US" sz="1800" dirty="0" err="1"/>
                        <a:t>Toshniwal</a:t>
                      </a:r>
                      <a:r>
                        <a:rPr lang="en-US" sz="1800" dirty="0"/>
                        <a:t>, “A hybrid recommendation system for investors and startups using machine learning techniques,” </a:t>
                      </a:r>
                      <a:r>
                        <a:rPr lang="en-US" sz="1800" i="1" dirty="0"/>
                        <a:t>International Journal of Computer Applications</a:t>
                      </a:r>
                      <a:r>
                        <a:rPr lang="en-US" sz="1800" dirty="0"/>
                        <a:t>, vol. 178, no. 7, pp. 10–15, May 2019.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Implemented a hybrid recommendation model combining content-based filtering and collaborative filtering using Python and </a:t>
                      </a:r>
                      <a:r>
                        <a:rPr lang="en-US" sz="18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scikit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-learn. User profiling was done based on industry, funding stage, and investment preference.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Helped in understanding how to build a personalized matchmaking engine using ML for startup-investor platforms. Inspired the content-based filtering used in Grow Bridge.</a:t>
                      </a:r>
                    </a:p>
                  </a:txBody>
                  <a:tcPr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S. Patel, V. Khanna, “Investor-Startup matching using NLP-based profiling,” </a:t>
                      </a:r>
                      <a:r>
                        <a:rPr lang="en-US" sz="1800" i="1" dirty="0"/>
                        <a:t>IEEE Access</a:t>
                      </a:r>
                      <a:r>
                        <a:rPr lang="en-US" sz="1800" dirty="0"/>
                        <a:t>, vol. 9, pp. 102345–102356, 2021.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dirty="0"/>
                        <a:t>Used Natural Language Processing (NLP) techniques to extract key features from startup descriptions and investor bios using </a:t>
                      </a:r>
                      <a:r>
                        <a:rPr lang="en-US" sz="1800" b="0" dirty="0" err="1"/>
                        <a:t>spaCy</a:t>
                      </a:r>
                      <a:r>
                        <a:rPr lang="en-US" sz="1800" b="0" dirty="0"/>
                        <a:t> and NLTK.</a:t>
                      </a:r>
                      <a:endParaRPr sz="18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dirty="0"/>
                        <a:t>Inspired future enhancement plans for Grow Bridge’s NLP-based matching and profile enrichment.</a:t>
                      </a:r>
                      <a:endParaRPr sz="18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838200" y="240435"/>
            <a:ext cx="10515600" cy="270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Cambria"/>
              <a:buNone/>
            </a:pPr>
            <a:r>
              <a:rPr lang="en-US" sz="36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LITERATURE SURVEY </a:t>
            </a:r>
            <a:endParaRPr sz="36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8" name="Google Shape;11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08-04-2025</a:t>
            </a:r>
            <a:endParaRPr sz="1800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>
            <a:spLocks noGrp="1"/>
          </p:cNvSpPr>
          <p:nvPr>
            <p:ph type="ftr" idx="11"/>
          </p:nvPr>
        </p:nvSpPr>
        <p:spPr>
          <a:xfrm>
            <a:off x="4246421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FIRST REVIEW PRESENTATION</a:t>
            </a:r>
            <a:endParaRPr sz="18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rgbClr val="0070C0"/>
                </a:solidFill>
              </a:rPr>
              <a:t>4</a:t>
            </a:fld>
            <a:endParaRPr sz="1800">
              <a:solidFill>
                <a:srgbClr val="0070C0"/>
              </a:solidFill>
            </a:endParaRPr>
          </a:p>
        </p:txBody>
      </p:sp>
      <p:graphicFrame>
        <p:nvGraphicFramePr>
          <p:cNvPr id="121" name="Google Shape;121;p3"/>
          <p:cNvGraphicFramePr/>
          <p:nvPr>
            <p:extLst>
              <p:ext uri="{D42A27DB-BD31-4B8C-83A1-F6EECF244321}">
                <p14:modId xmlns:p14="http://schemas.microsoft.com/office/powerpoint/2010/main" val="3240107482"/>
              </p:ext>
            </p:extLst>
          </p:nvPr>
        </p:nvGraphicFramePr>
        <p:xfrm>
          <a:off x="838200" y="647354"/>
          <a:ext cx="10515600" cy="5371706"/>
        </p:xfrm>
        <a:graphic>
          <a:graphicData uri="http://schemas.openxmlformats.org/drawingml/2006/table">
            <a:tbl>
              <a:tblPr firstRow="1" bandRow="1">
                <a:noFill/>
                <a:tableStyleId>{17C3A0A9-3273-47C8-B794-C4EF99520175}</a:tableStyleId>
              </a:tblPr>
              <a:tblGrid>
                <a:gridCol w="77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9004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Sl.No.</a:t>
                      </a:r>
                      <a:endParaRPr sz="1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References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( Journal Papers Only)</a:t>
                      </a:r>
                      <a:endParaRPr sz="1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Works carried out 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( with details of Methods/ Materials/ Software/ Algorithms / fabrication / techniques/ components used ) </a:t>
                      </a:r>
                      <a:endParaRPr sz="1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</a:rPr>
                        <a:t>Information gathered relevant to your project</a:t>
                      </a:r>
                      <a:endParaRPr sz="1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004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dirty="0"/>
                        <a:t>J. Singh, R. Sharma, “Designing scalable </a:t>
                      </a:r>
                      <a:r>
                        <a:rPr lang="en-IN" sz="1800" dirty="0" err="1"/>
                        <a:t>startup</a:t>
                      </a:r>
                      <a:r>
                        <a:rPr lang="en-IN" sz="1800" dirty="0"/>
                        <a:t> platforms using PostgreSQL and Django,” </a:t>
                      </a:r>
                      <a:r>
                        <a:rPr lang="en-IN" sz="1800" i="1" dirty="0"/>
                        <a:t>Journal of Software Engineering</a:t>
                      </a:r>
                      <a:r>
                        <a:rPr lang="en-IN" sz="1800" dirty="0"/>
                        <a:t>, vol. 14, no. 2, pp. 55–63, Mar. 2020.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dirty="0"/>
                        <a:t>Focused on database modeling and optimization using PostgreSQL with relational schema for startup ecosystems.</a:t>
                      </a:r>
                      <a:endParaRPr sz="18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dirty="0"/>
                        <a:t>Helped in designing the PostgreSQL schema for users, connections, and recommendation logs in Grow Bridge</a:t>
                      </a:r>
                      <a:endParaRPr sz="18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161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dirty="0"/>
                        <a:t>M. Kaur, A. Mehta, “Scalable frontend architecture using React and Next.js,” </a:t>
                      </a:r>
                      <a:r>
                        <a:rPr lang="en-US" sz="1800" i="1" dirty="0"/>
                        <a:t>International Journal of Web &amp; Semantic Tech (</a:t>
                      </a:r>
                      <a:r>
                        <a:rPr lang="en-US" sz="1800" i="1" dirty="0" err="1"/>
                        <a:t>IJWesT</a:t>
                      </a:r>
                      <a:r>
                        <a:rPr lang="en-US" sz="1800" i="1" dirty="0"/>
                        <a:t>)</a:t>
                      </a:r>
                      <a:r>
                        <a:rPr lang="en-US" sz="1800" dirty="0"/>
                        <a:t>, vol. 12, no. 3, pp. 45–53, Sept 2021.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dirty="0"/>
                        <a:t>Focused on building modular, SEO-friendly UI with React and Next.js. Included SSR and API route integration.</a:t>
                      </a:r>
                      <a:endParaRPr sz="18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dirty="0"/>
                        <a:t>Guided the frontend architecture decisions for building Grow Bridge with modular design and Next.js features.</a:t>
                      </a:r>
                      <a:endParaRPr sz="18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>
            <a:spLocks noGrp="1"/>
          </p:cNvSpPr>
          <p:nvPr>
            <p:ph type="body" idx="1"/>
          </p:nvPr>
        </p:nvSpPr>
        <p:spPr>
          <a:xfrm>
            <a:off x="678873" y="822353"/>
            <a:ext cx="10674927" cy="5444836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  <a:p>
            <a:pPr marL="114300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</p:txBody>
      </p:sp>
      <p:sp>
        <p:nvSpPr>
          <p:cNvPr id="127" name="Google Shape;12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>
                <a:solidFill>
                  <a:srgbClr val="385623"/>
                </a:solidFill>
              </a:rPr>
              <a:t>SECOND REVIEW PRESENTATION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28" name="Google Shape;12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 b="1">
                <a:solidFill>
                  <a:srgbClr val="385623"/>
                </a:solidFill>
              </a:rPr>
              <a:t>5</a:t>
            </a:fld>
            <a:endParaRPr sz="1800" b="1">
              <a:solidFill>
                <a:srgbClr val="385623"/>
              </a:solidFill>
            </a:endParaRPr>
          </a:p>
        </p:txBody>
      </p:sp>
      <p:sp>
        <p:nvSpPr>
          <p:cNvPr id="129" name="Google Shape;129;p5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SCOPE OF THE PROJECT</a:t>
            </a:r>
            <a:endParaRPr sz="24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0" name="Google Shape;13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08-04-2025</a:t>
            </a:r>
            <a:endParaRPr sz="1800" b="1" dirty="0">
              <a:solidFill>
                <a:srgbClr val="385623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49894" y="1095556"/>
            <a:ext cx="1017245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atform focuses on bridging the gap between early-stage startups seeking capital and investors looking for relevant, high-growth opportunities.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Allows role-based user onboarding, where startups and investors input structured data including domains, funding stage, location, and interests.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Utilizes a content-based recommendation algorithm that calculates similarity scores between startup and investor profiles using textual features and filters.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Supports automated investor suggestions for startups and vice versa, improving efficiency over manual searches.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>
            <a:spLocks noGrp="1"/>
          </p:cNvSpPr>
          <p:nvPr>
            <p:ph type="body" idx="1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  <a:p>
            <a:pPr marL="114300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</p:txBody>
      </p:sp>
      <p:sp>
        <p:nvSpPr>
          <p:cNvPr id="136" name="Google Shape;136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>
                <a:solidFill>
                  <a:srgbClr val="385623"/>
                </a:solidFill>
              </a:rPr>
              <a:t>SECOND REVIEW PRESENTATION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137" name="Google Shape;137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 b="1">
                <a:solidFill>
                  <a:srgbClr val="385623"/>
                </a:solidFill>
              </a:rPr>
              <a:t>6</a:t>
            </a:fld>
            <a:endParaRPr sz="1800" b="1">
              <a:solidFill>
                <a:srgbClr val="385623"/>
              </a:solidFill>
            </a:endParaRPr>
          </a:p>
        </p:txBody>
      </p:sp>
      <p:sp>
        <p:nvSpPr>
          <p:cNvPr id="138" name="Google Shape;138;p6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NEED FOR THE CURRENT STUDY </a:t>
            </a:r>
            <a:endParaRPr sz="24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9" name="Google Shape;1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08-04-2025</a:t>
            </a:r>
            <a:endParaRPr sz="1800" b="1" dirty="0">
              <a:solidFill>
                <a:srgbClr val="385623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199" y="918403"/>
            <a:ext cx="10515601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Traditional startup-investor discovery methods are manual, time-consuming, and often inefficient.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Existing platforms lack intelligent matchmaking; they offer static listings without personalization.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Startups struggle to reach relevant investors aligned with their domain, funding stage, and vision.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Investors are overwhelmed by irrelevant proposals, making filtering a challenge.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There is a clear need for an AI-powered platform that automates and personalizes investor-startup connections.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Grow Bridge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aims to address this gap using content-based filtering to recommend highly relevant matches and streamline the engagement process.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08-04-2025</a:t>
            </a:r>
            <a:endParaRPr sz="1800" b="1" dirty="0">
              <a:solidFill>
                <a:srgbClr val="385623"/>
              </a:solidFill>
            </a:endParaRPr>
          </a:p>
        </p:txBody>
      </p:sp>
      <p:sp>
        <p:nvSpPr>
          <p:cNvPr id="145" name="Google Shape;145;p9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SECOND REVIEW PRESENTATION</a:t>
            </a:r>
            <a:endParaRPr/>
          </a:p>
        </p:txBody>
      </p:sp>
      <p:sp>
        <p:nvSpPr>
          <p:cNvPr id="146" name="Google Shape;146;p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5124" name="Picture 4" descr="Gener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90663"/>
            <a:ext cx="5007005" cy="6630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SECOND REVIEW PRESENTATION</a:t>
            </a:r>
            <a:endParaRPr/>
          </a:p>
        </p:txBody>
      </p:sp>
      <p:sp>
        <p:nvSpPr>
          <p:cNvPr id="154" name="Google Shape;15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55" name="Google Shape;155;p10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PROPOSED METHODOLOGY ( Gantt Chart) </a:t>
            </a:r>
            <a:endParaRPr sz="24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56" name="Google Shape;15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0464" y="903161"/>
            <a:ext cx="6851071" cy="4888039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7" name="Google Shape;15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08-04-2025</a:t>
            </a:r>
            <a:endParaRPr sz="1800" b="1" dirty="0">
              <a:solidFill>
                <a:srgbClr val="38562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>
            <a:spLocks noGrp="1"/>
          </p:cNvSpPr>
          <p:nvPr>
            <p:ph type="body" idx="1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63" name="Google Shape;16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SECOND REVIEW PRESENTATION</a:t>
            </a:r>
            <a:endParaRPr/>
          </a:p>
        </p:txBody>
      </p:sp>
      <p:sp>
        <p:nvSpPr>
          <p:cNvPr id="164" name="Google Shape;16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65" name="Google Shape;165;p11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CHOICE  OF  COMPONENTS  /  MODULES  / METHODS/TECHNIQUES </a:t>
            </a:r>
            <a:br>
              <a:rPr lang="en-US" sz="24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EQUIPMENT  USED FOR  PROJECT DEVELOPMENT </a:t>
            </a:r>
            <a:endParaRPr sz="24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08-04-2025</a:t>
            </a:r>
            <a:endParaRPr sz="1800" b="1" dirty="0">
              <a:solidFill>
                <a:srgbClr val="385623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575883" y="1699688"/>
            <a:ext cx="388760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Frontend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React.js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Backend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Node.js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Database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PostgreSQL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Technique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   	Content-based filtering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   	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	User 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	Profile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	Recommendation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 txBox="1">
            <a:spLocks noGrp="1"/>
          </p:cNvSpPr>
          <p:nvPr>
            <p:ph type="body" idx="1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  <a:p>
            <a:pPr marL="114300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  <a:p>
            <a:pPr marL="114300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72" name="Google Shape;1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SECOND REVIEW PRESENTATION</a:t>
            </a:r>
            <a:endParaRPr/>
          </a:p>
        </p:txBody>
      </p:sp>
      <p:sp>
        <p:nvSpPr>
          <p:cNvPr id="173" name="Google Shape;1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74" name="Google Shape;174;p14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DESIGN(S) (HARDWARE / SOFTWARE ARCHITECTURE) </a:t>
            </a:r>
            <a:endParaRPr sz="24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5" name="Google Shape;17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08-04-2025</a:t>
            </a:r>
            <a:endParaRPr sz="1800" b="1" dirty="0">
              <a:solidFill>
                <a:srgbClr val="385623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8198" y="1073999"/>
            <a:ext cx="1014348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Grow Bridge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uses a modern full-stack architecture with Next.js for the frontend, providing fast, responsive user interfaces.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backend is handled via Next.js API routes, managing authentication, user operations, and AI-driven matchmaking.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recommendation engine uses content-based filtering with TF-IDF and cosine similarity to suggest relevant investor-startup matches.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All data is stored in a PostgreSQL database, including user profiles, messages, and connection logs. 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cf035dbfd_0_299"/>
          <p:cNvSpPr txBox="1">
            <a:spLocks noGrp="1"/>
          </p:cNvSpPr>
          <p:nvPr>
            <p:ph type="body" idx="1"/>
          </p:nvPr>
        </p:nvSpPr>
        <p:spPr>
          <a:xfrm>
            <a:off x="838199" y="775855"/>
            <a:ext cx="10674900" cy="54447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99" name="Google Shape;199;g30cf035dbfd_0_2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 b="1">
                <a:solidFill>
                  <a:srgbClr val="385623"/>
                </a:solidFill>
              </a:rPr>
              <a:t>SECOND REVIEW PRESENTATION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200" name="Google Shape;200;g30cf035dbfd_0_2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01" name="Google Shape;201;g30cf035dbfd_0_299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sz="2400" b="1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2" name="Google Shape;202;g30cf035dbfd_0_29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08-04-2025</a:t>
            </a:r>
            <a:endParaRPr sz="1800" b="1" dirty="0">
              <a:solidFill>
                <a:srgbClr val="385623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59622" y="1286814"/>
            <a:ext cx="9931285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Grow Bridge successfully addresses the gap between early-stage startups and potential investors through a smart, AI-powered platform.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use of content-based filtering ensures precise and relevant startup-investor matches.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Developed with a scalable architecture using Next.js, and PostgreSQL, enabling efficient data handling and future expansion.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Features like real-time messaging, role-based access, and a user-friendly interface enhance engagement and trust.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 txBox="1">
            <a:spLocks noGrp="1"/>
          </p:cNvSpPr>
          <p:nvPr>
            <p:ph type="body" idx="1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n-US" b="1" dirty="0">
                <a:solidFill>
                  <a:srgbClr val="C00000"/>
                </a:solidFill>
              </a:rPr>
              <a:t>Batch Member 1 : ( 7376221CS299 &amp; </a:t>
            </a:r>
            <a:r>
              <a:rPr lang="en-US" b="1" dirty="0" err="1">
                <a:solidFill>
                  <a:srgbClr val="C00000"/>
                </a:solidFill>
              </a:rPr>
              <a:t>Sarvesh</a:t>
            </a:r>
            <a:r>
              <a:rPr lang="en-US" b="1" dirty="0">
                <a:solidFill>
                  <a:srgbClr val="C00000"/>
                </a:solidFill>
              </a:rPr>
              <a:t> S )</a:t>
            </a:r>
            <a:endParaRPr dirty="0"/>
          </a:p>
        </p:txBody>
      </p:sp>
      <p:sp>
        <p:nvSpPr>
          <p:cNvPr id="208" name="Google Shape;20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SECOND REVIEW PRESENTATION</a:t>
            </a:r>
            <a:endParaRPr/>
          </a:p>
        </p:txBody>
      </p:sp>
      <p:sp>
        <p:nvSpPr>
          <p:cNvPr id="209" name="Google Shape;20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10" name="Google Shape;210;p17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INDIVIDUAL CONTRIBUTIONS TO THE WORK </a:t>
            </a:r>
            <a:endParaRPr sz="2400" b="1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1" name="Google Shape;21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08-04-2025</a:t>
            </a:r>
            <a:endParaRPr sz="1800" b="1" dirty="0">
              <a:solidFill>
                <a:srgbClr val="385623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334711" y="1509261"/>
            <a:ext cx="10019089" cy="2343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Developed Next.js API routes to handle user operations, authentication, and messaging.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Connected the backend with PostgreSQL, managing CRUD operations and schema design.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Managed session handling, middleware, and error responses.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Ensured secure data flow and validation across endpoints.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Supported integration of the recommendation engine with backend APIs.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 txBox="1">
            <a:spLocks noGrp="1"/>
          </p:cNvSpPr>
          <p:nvPr>
            <p:ph type="body" idx="1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n-US" b="1" dirty="0">
                <a:solidFill>
                  <a:srgbClr val="C00000"/>
                </a:solidFill>
              </a:rPr>
              <a:t>Batch Member 2 : (736221CS183 &amp; </a:t>
            </a:r>
            <a:r>
              <a:rPr lang="en-US" b="1" dirty="0" err="1">
                <a:solidFill>
                  <a:srgbClr val="C00000"/>
                </a:solidFill>
              </a:rPr>
              <a:t>Kalaivani</a:t>
            </a:r>
            <a:r>
              <a:rPr lang="en-US" b="1" dirty="0">
                <a:solidFill>
                  <a:srgbClr val="C00000"/>
                </a:solidFill>
              </a:rPr>
              <a:t> K 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17" name="Google Shape;21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SECOND REVIEW PRESENTATION</a:t>
            </a:r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19" name="Google Shape;219;p18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INDIVIDUAL CONTRIBUTIONS TO THE WORK </a:t>
            </a:r>
            <a:endParaRPr sz="2400" b="1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0" name="Google Shape;22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08-04-2025</a:t>
            </a:r>
            <a:endParaRPr sz="1800" b="1" dirty="0">
              <a:solidFill>
                <a:srgbClr val="385623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402200" y="1482616"/>
            <a:ext cx="10110926" cy="2805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Designed and implemented the AI-based recommendation engine using content-based filtering.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Processed user profiles using TF-IDF and computed cosine similarity scores.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Tuned the model to improve match accuracy between startups and investors.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Integrated the model with the backend to provide real-time suggestions.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Planned future enhancements using NLP for intelligent matchmaking.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 txBox="1">
            <a:spLocks noGrp="1"/>
          </p:cNvSpPr>
          <p:nvPr>
            <p:ph type="body" idx="1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n-US" b="1" dirty="0">
                <a:solidFill>
                  <a:srgbClr val="C00000"/>
                </a:solidFill>
              </a:rPr>
              <a:t>Batch Member 3 : (7376221CS154 &amp; </a:t>
            </a:r>
            <a:r>
              <a:rPr lang="en-US" b="1" dirty="0" err="1">
                <a:solidFill>
                  <a:srgbClr val="C00000"/>
                </a:solidFill>
              </a:rPr>
              <a:t>Gokul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Sree</a:t>
            </a:r>
            <a:r>
              <a:rPr lang="en-US" b="1" dirty="0">
                <a:solidFill>
                  <a:srgbClr val="C00000"/>
                </a:solidFill>
              </a:rPr>
              <a:t> R 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26" name="Google Shape;22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SECOND REVIEW PRESENTATION</a:t>
            </a:r>
            <a:endParaRPr/>
          </a:p>
        </p:txBody>
      </p:sp>
      <p:sp>
        <p:nvSpPr>
          <p:cNvPr id="227" name="Google Shape;22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28" name="Google Shape;228;p19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INDIVIDUAL CONTRIBUTIONS TO THE WORK </a:t>
            </a:r>
            <a:endParaRPr sz="2400" b="1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9" name="Google Shape;22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08-04-2025</a:t>
            </a:r>
            <a:endParaRPr sz="1800" b="1" dirty="0">
              <a:solidFill>
                <a:srgbClr val="385623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279626" y="1477280"/>
            <a:ext cx="9792071" cy="2343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Designed the PostgreSQL database schema for users, messages, and recommendations.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Set up relational tables with constraints and indexing for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Wrote SQL queries for efficient data retrieval and match tracking.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Connected the database with backend APIs using an ORM (</a:t>
            </a:r>
            <a:r>
              <a:rPr lang="en-US" alt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TypeORM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Handled database testing, optimization, and migrations.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ff618544b1_0_0"/>
          <p:cNvSpPr txBox="1">
            <a:spLocks noGrp="1"/>
          </p:cNvSpPr>
          <p:nvPr>
            <p:ph type="body" idx="1"/>
          </p:nvPr>
        </p:nvSpPr>
        <p:spPr>
          <a:xfrm>
            <a:off x="838199" y="775855"/>
            <a:ext cx="10674900" cy="54447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n-US" b="1" dirty="0">
                <a:solidFill>
                  <a:srgbClr val="C00000"/>
                </a:solidFill>
              </a:rPr>
              <a:t>Batch Member 4 : (7376221CS239 &amp; </a:t>
            </a:r>
            <a:r>
              <a:rPr lang="en-US" b="1" dirty="0" err="1">
                <a:solidFill>
                  <a:srgbClr val="C00000"/>
                </a:solidFill>
              </a:rPr>
              <a:t>Naren</a:t>
            </a:r>
            <a:r>
              <a:rPr lang="en-US" b="1" dirty="0">
                <a:solidFill>
                  <a:srgbClr val="C00000"/>
                </a:solidFill>
              </a:rPr>
              <a:t> Shankar N 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35" name="Google Shape;235;g2ff618544b1_0_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FIRST REVIEW PRESENTATION</a:t>
            </a:r>
            <a:endParaRPr/>
          </a:p>
        </p:txBody>
      </p:sp>
      <p:sp>
        <p:nvSpPr>
          <p:cNvPr id="236" name="Google Shape;236;g2ff618544b1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37" name="Google Shape;237;g2ff618544b1_0_0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INDIVIDUAL CONTRIBUTIONS TO THE WORK </a:t>
            </a:r>
            <a:endParaRPr sz="2400" b="1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8" name="Google Shape;238;g2ff618544b1_0_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08-04-2025</a:t>
            </a:r>
            <a:endParaRPr sz="1800" b="1" dirty="0">
              <a:solidFill>
                <a:srgbClr val="385623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197746" y="1491909"/>
            <a:ext cx="10156054" cy="2343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Designed and developed the frontend using Next.js.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Created responsive UI components for user dashboard and registration.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Implemented role-based authentication and session management.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Integrated real-time messaging using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WebSockets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Coordinated frontend-backend communication through API calls.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"/>
          <p:cNvSpPr txBox="1">
            <a:spLocks noGrp="1"/>
          </p:cNvSpPr>
          <p:nvPr>
            <p:ph type="body" idx="1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1.API Integration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2.Database Migration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3.Dashboard UI completion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44" name="Google Shape;24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SECOND REVIEW PRESENTATION</a:t>
            </a:r>
            <a:endParaRPr/>
          </a:p>
        </p:txBody>
      </p:sp>
      <p:sp>
        <p:nvSpPr>
          <p:cNvPr id="245" name="Google Shape;24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46" name="Google Shape;246;p20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PENDING WORKS AND PLAN FOR COMPLETION  </a:t>
            </a:r>
            <a:endParaRPr sz="2400" b="1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7" name="Google Shape;24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08-04-2025</a:t>
            </a:r>
            <a:endParaRPr sz="1800" b="1" dirty="0">
              <a:solidFill>
                <a:srgbClr val="38562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8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PLAN FOR PUBLICATIONS</a:t>
            </a:r>
            <a:endParaRPr sz="2400" b="1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3" name="Google Shape;253;p21"/>
          <p:cNvSpPr txBox="1">
            <a:spLocks noGrp="1"/>
          </p:cNvSpPr>
          <p:nvPr>
            <p:ph type="body" idx="1"/>
          </p:nvPr>
        </p:nvSpPr>
        <p:spPr>
          <a:xfrm>
            <a:off x="838200" y="105294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Paper Presentation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Completed the presentation through virtual mode in VELLAMAL COLLEGE OF ENGINEERING ON 23.03.2025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54" name="Google Shape;254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SECOND REVIEW PRESENTATION</a:t>
            </a:r>
            <a:endParaRPr/>
          </a:p>
        </p:txBody>
      </p:sp>
      <p:sp>
        <p:nvSpPr>
          <p:cNvPr id="255" name="Google Shape;255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56" name="Google Shape;2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>
                <a:solidFill>
                  <a:srgbClr val="385623"/>
                </a:solidFill>
              </a:rPr>
              <a:t>08-04-2025</a:t>
            </a:r>
            <a:endParaRPr sz="1800" b="1" dirty="0">
              <a:solidFill>
                <a:srgbClr val="385623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8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Status on Partial Completion and Submission of Project Report</a:t>
            </a:r>
            <a:endParaRPr sz="2400" b="1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62" name="Google Shape;262;p22"/>
          <p:cNvSpPr txBox="1">
            <a:spLocks noGrp="1"/>
          </p:cNvSpPr>
          <p:nvPr>
            <p:ph type="body" idx="1"/>
          </p:nvPr>
        </p:nvSpPr>
        <p:spPr>
          <a:xfrm>
            <a:off x="838200" y="105294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800"/>
              <a:buNone/>
            </a:pPr>
            <a:r>
              <a:rPr lang="en-US" b="1">
                <a:solidFill>
                  <a:srgbClr val="385623"/>
                </a:solidFill>
              </a:rPr>
              <a:t>List of Documents to be Submitted </a:t>
            </a:r>
            <a:endParaRPr sz="2000">
              <a:solidFill>
                <a:srgbClr val="385623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63" name="Google Shape;26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SECOND REVIEW PRESENTATION</a:t>
            </a:r>
            <a:endParaRPr/>
          </a:p>
        </p:txBody>
      </p:sp>
      <p:sp>
        <p:nvSpPr>
          <p:cNvPr id="264" name="Google Shape;26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aphicFrame>
        <p:nvGraphicFramePr>
          <p:cNvPr id="265" name="Google Shape;265;p22"/>
          <p:cNvGraphicFramePr/>
          <p:nvPr/>
        </p:nvGraphicFramePr>
        <p:xfrm>
          <a:off x="838200" y="1645087"/>
          <a:ext cx="10111525" cy="4235310"/>
        </p:xfrm>
        <a:graphic>
          <a:graphicData uri="http://schemas.openxmlformats.org/drawingml/2006/table">
            <a:tbl>
              <a:tblPr firstRow="1" bandRow="1">
                <a:noFill/>
                <a:tableStyleId>{17C3A0A9-3273-47C8-B794-C4EF99520175}</a:tableStyleId>
              </a:tblPr>
              <a:tblGrid>
                <a:gridCol w="98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SL.No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List of Documents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Status ( Provide the drive link of prepared document)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7030A0"/>
                          </a:solidFill>
                        </a:rPr>
                        <a:t>Cover Page &amp; Title Page (Both are in same format)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7030A0"/>
                          </a:solidFill>
                        </a:rPr>
                        <a:t>Bonafide Certificate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7030A0"/>
                          </a:solidFill>
                        </a:rPr>
                        <a:t>Declaration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7030A0"/>
                          </a:solidFill>
                        </a:rPr>
                        <a:t>Acknowledgement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7030A0"/>
                          </a:solidFill>
                        </a:rPr>
                        <a:t>Chapter I – Introduction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7030A0"/>
                          </a:solidFill>
                        </a:rPr>
                        <a:t>Chapter 2 – Literature Survey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6" name="Google Shape;26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>
                <a:solidFill>
                  <a:srgbClr val="385623"/>
                </a:solidFill>
              </a:rPr>
              <a:t>19-03-2025</a:t>
            </a:r>
            <a:endParaRPr sz="1800" b="1">
              <a:solidFill>
                <a:srgbClr val="385623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0cf035dbfd_0_1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Submission of Project Report</a:t>
            </a:r>
            <a:endParaRPr sz="2400" b="1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2" name="Google Shape;272;g30cf035dbfd_0_14"/>
          <p:cNvSpPr txBox="1">
            <a:spLocks noGrp="1"/>
          </p:cNvSpPr>
          <p:nvPr>
            <p:ph type="body" idx="1"/>
          </p:nvPr>
        </p:nvSpPr>
        <p:spPr>
          <a:xfrm>
            <a:off x="838200" y="105294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800"/>
              <a:buNone/>
            </a:pPr>
            <a:r>
              <a:rPr lang="en-US" b="1">
                <a:solidFill>
                  <a:srgbClr val="385623"/>
                </a:solidFill>
              </a:rPr>
              <a:t>List of Documents to be Submitted </a:t>
            </a:r>
            <a:endParaRPr sz="2000">
              <a:solidFill>
                <a:srgbClr val="385623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73" name="Google Shape;273;g30cf035dbfd_0_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 b="1">
                <a:solidFill>
                  <a:srgbClr val="385623"/>
                </a:solidFill>
              </a:rPr>
              <a:t>SECOND REVIEW PRESENTATION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</a:p>
        </p:txBody>
      </p:sp>
      <p:sp>
        <p:nvSpPr>
          <p:cNvPr id="274" name="Google Shape;274;g30cf035dbfd_0_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graphicFrame>
        <p:nvGraphicFramePr>
          <p:cNvPr id="275" name="Google Shape;275;g30cf035dbfd_0_14"/>
          <p:cNvGraphicFramePr/>
          <p:nvPr/>
        </p:nvGraphicFramePr>
        <p:xfrm>
          <a:off x="838200" y="1645087"/>
          <a:ext cx="10111525" cy="4503830"/>
        </p:xfrm>
        <a:graphic>
          <a:graphicData uri="http://schemas.openxmlformats.org/drawingml/2006/table">
            <a:tbl>
              <a:tblPr firstRow="1" bandRow="1">
                <a:noFill/>
                <a:tableStyleId>{17C3A0A9-3273-47C8-B794-C4EF99520175}</a:tableStyleId>
              </a:tblPr>
              <a:tblGrid>
                <a:gridCol w="98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SL.No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List of Documents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Status ( Provide the drive link of prepared document)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1800" u="none" strike="noStrike" cap="none"/>
                        <a:t>      7</a:t>
                      </a:r>
                      <a:endParaRPr sz="2400" u="none" strike="noStrike" cap="none">
                        <a:solidFill>
                          <a:srgbClr val="7030A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7030A0"/>
                          </a:solidFill>
                        </a:rPr>
                        <a:t>Chapters 3 - Objectives and Methodology</a:t>
                      </a:r>
                      <a:endParaRPr sz="2400" u="none" strike="noStrike" cap="none">
                        <a:solidFill>
                          <a:srgbClr val="7030A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7030A0"/>
                          </a:solidFill>
                        </a:rPr>
                        <a:t>Chapters 4 - Proposed work modules (Chapters name can be based on the work)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7030A0"/>
                          </a:solidFill>
                        </a:rPr>
                        <a:t>Chapter 5 - Results and Discussion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1800" u="none" strike="noStrike" cap="none"/>
                        <a:t>      10 </a:t>
                      </a:r>
                      <a:endParaRPr sz="2400" u="none" strike="noStrike" cap="none">
                        <a:solidFill>
                          <a:srgbClr val="7030A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7030A0"/>
                          </a:solidFill>
                        </a:rPr>
                        <a:t>Chapters 6 - Conclusions &amp; Suggestions for Future work</a:t>
                      </a:r>
                      <a:endParaRPr sz="2400" u="none" strike="noStrike" cap="none">
                        <a:solidFill>
                          <a:srgbClr val="7030A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11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7030A0"/>
                          </a:solidFill>
                        </a:rPr>
                        <a:t>References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1800" u="none" strike="noStrike" cap="none"/>
                        <a:t>     12</a:t>
                      </a:r>
                      <a:endParaRPr sz="2400" u="none" strike="noStrike" cap="none">
                        <a:solidFill>
                          <a:srgbClr val="7030A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>
                          <a:solidFill>
                            <a:srgbClr val="7030A0"/>
                          </a:solidFill>
                        </a:rPr>
                        <a:t>Appendices</a:t>
                      </a:r>
                      <a:endParaRPr sz="2400" u="none" strike="noStrike" cap="none">
                        <a:solidFill>
                          <a:srgbClr val="7030A0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6" name="Google Shape;276;g30cf035dbfd_0_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>
                <a:solidFill>
                  <a:srgbClr val="385623"/>
                </a:solidFill>
              </a:rPr>
              <a:t>19-03-2025</a:t>
            </a:r>
            <a:endParaRPr sz="1800" b="1">
              <a:solidFill>
                <a:srgbClr val="38562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0cf035dbfd_0_10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PUBLICATIONS (CONFERENCE / JOURNAL / PATENT)</a:t>
            </a:r>
            <a:endParaRPr sz="2400" b="1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2" name="Google Shape;282;g30cf035dbfd_0_105"/>
          <p:cNvSpPr txBox="1">
            <a:spLocks noGrp="1"/>
          </p:cNvSpPr>
          <p:nvPr>
            <p:ph type="body" idx="1"/>
          </p:nvPr>
        </p:nvSpPr>
        <p:spPr>
          <a:xfrm>
            <a:off x="838200" y="105294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800"/>
              <a:buNone/>
            </a:pPr>
            <a:r>
              <a:rPr lang="en-US" b="1">
                <a:solidFill>
                  <a:srgbClr val="385623"/>
                </a:solidFill>
              </a:rPr>
              <a:t> </a:t>
            </a:r>
            <a:endParaRPr sz="2000">
              <a:solidFill>
                <a:srgbClr val="385623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83" name="Google Shape;283;g30cf035dbfd_0_10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 b="1">
                <a:solidFill>
                  <a:srgbClr val="385623"/>
                </a:solidFill>
              </a:rPr>
              <a:t>SECOND REVIEW PRESENTATION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</a:p>
        </p:txBody>
      </p:sp>
      <p:sp>
        <p:nvSpPr>
          <p:cNvPr id="284" name="Google Shape;284;g30cf035dbfd_0_10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graphicFrame>
        <p:nvGraphicFramePr>
          <p:cNvPr id="285" name="Google Shape;285;g30cf035dbfd_0_105"/>
          <p:cNvGraphicFramePr/>
          <p:nvPr/>
        </p:nvGraphicFramePr>
        <p:xfrm>
          <a:off x="838200" y="1645087"/>
          <a:ext cx="10111525" cy="3966790"/>
        </p:xfrm>
        <a:graphic>
          <a:graphicData uri="http://schemas.openxmlformats.org/drawingml/2006/table">
            <a:tbl>
              <a:tblPr firstRow="1" bandRow="1">
                <a:noFill/>
                <a:tableStyleId>{17C3A0A9-3273-47C8-B794-C4EF99520175}</a:tableStyleId>
              </a:tblPr>
              <a:tblGrid>
                <a:gridCol w="98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SL.No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Paper/Manuscript Title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Status ( Provide the drive link of prepared document)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6" name="Google Shape;286;g30cf035dbfd_0_10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>
                <a:solidFill>
                  <a:srgbClr val="385623"/>
                </a:solidFill>
              </a:rPr>
              <a:t>19-03-2025</a:t>
            </a:r>
            <a:endParaRPr sz="1800" b="1">
              <a:solidFill>
                <a:srgbClr val="385623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0cf035dbfd_0_11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ORIGINALITY SCORE</a:t>
            </a:r>
            <a:endParaRPr sz="2400" b="1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2" name="Google Shape;292;g30cf035dbfd_0_1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>
                <a:solidFill>
                  <a:srgbClr val="385623"/>
                </a:solidFill>
              </a:rPr>
              <a:t>SECOND REVIEW PRESENTATION</a:t>
            </a:r>
            <a:endParaRPr sz="1800" b="1">
              <a:solidFill>
                <a:srgbClr val="385623"/>
              </a:solidFill>
            </a:endParaRPr>
          </a:p>
        </p:txBody>
      </p:sp>
      <p:sp>
        <p:nvSpPr>
          <p:cNvPr id="293" name="Google Shape;293;g30cf035dbfd_0_1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94" name="Google Shape;294;g30cf035dbfd_0_114"/>
          <p:cNvSpPr txBox="1"/>
          <p:nvPr/>
        </p:nvSpPr>
        <p:spPr>
          <a:xfrm>
            <a:off x="1744050" y="1891850"/>
            <a:ext cx="851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5" name="Google Shape;295;g30cf035dbfd_0_114"/>
          <p:cNvGraphicFramePr/>
          <p:nvPr/>
        </p:nvGraphicFramePr>
        <p:xfrm>
          <a:off x="838200" y="1645087"/>
          <a:ext cx="10111525" cy="3966790"/>
        </p:xfrm>
        <a:graphic>
          <a:graphicData uri="http://schemas.openxmlformats.org/drawingml/2006/table">
            <a:tbl>
              <a:tblPr firstRow="1" bandRow="1">
                <a:noFill/>
                <a:tableStyleId>{17C3A0A9-3273-47C8-B794-C4EF99520175}</a:tableStyleId>
              </a:tblPr>
              <a:tblGrid>
                <a:gridCol w="98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SL.No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Tool name for checking originality score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Status ( Provide the drive link of prepared document)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6" name="Google Shape;296;g30cf035dbfd_0_1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>
                <a:solidFill>
                  <a:srgbClr val="385623"/>
                </a:solidFill>
              </a:rPr>
              <a:t>19-03-2025</a:t>
            </a:r>
            <a:endParaRPr sz="1800" b="1">
              <a:solidFill>
                <a:srgbClr val="385623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0cf035dbfd_0_9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Any Other Relevant Details</a:t>
            </a:r>
            <a:endParaRPr sz="2400" b="1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02" name="Google Shape;302;g30cf035dbfd_0_9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SECOND REVIEW PRESENTATION</a:t>
            </a:r>
            <a:endParaRPr/>
          </a:p>
        </p:txBody>
      </p:sp>
      <p:sp>
        <p:nvSpPr>
          <p:cNvPr id="303" name="Google Shape;303;g30cf035dbfd_0_9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04" name="Google Shape;304;g30cf035dbfd_0_9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>
                <a:solidFill>
                  <a:srgbClr val="385623"/>
                </a:solidFill>
              </a:rPr>
              <a:t>19-03-2025</a:t>
            </a:r>
            <a:endParaRPr sz="1800" b="1">
              <a:solidFill>
                <a:srgbClr val="38562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 txBox="1">
            <a:spLocks noGrp="1"/>
          </p:cNvSpPr>
          <p:nvPr>
            <p:ph type="body" idx="1"/>
          </p:nvPr>
        </p:nvSpPr>
        <p:spPr>
          <a:xfrm>
            <a:off x="838200" y="911514"/>
            <a:ext cx="10674927" cy="5444836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</a:pPr>
            <a:r>
              <a:rPr lang="en-US" sz="2400" dirty="0">
                <a:solidFill>
                  <a:srgbClr val="C00000"/>
                </a:solidFill>
              </a:rPr>
              <a:t>Journal </a:t>
            </a:r>
            <a:endParaRPr dirty="0"/>
          </a:p>
          <a:p>
            <a:pPr marL="0" lvl="0" indent="0">
              <a:buNone/>
            </a:pPr>
            <a:r>
              <a:rPr lang="en-IN" sz="1800" dirty="0"/>
              <a:t>[1] A. </a:t>
            </a:r>
            <a:r>
              <a:rPr lang="en-IN" sz="1800" dirty="0" err="1"/>
              <a:t>Bedi</a:t>
            </a:r>
            <a:r>
              <a:rPr lang="en-IN" sz="1800" dirty="0"/>
              <a:t> and K. </a:t>
            </a:r>
            <a:r>
              <a:rPr lang="en-IN" sz="1800" dirty="0" err="1"/>
              <a:t>Toshniwal</a:t>
            </a:r>
            <a:r>
              <a:rPr lang="en-IN" sz="1800" dirty="0"/>
              <a:t>, "A hybrid recommendation system for investors and </a:t>
            </a:r>
            <a:r>
              <a:rPr lang="en-IN" sz="1800" dirty="0" err="1"/>
              <a:t>startups</a:t>
            </a:r>
            <a:r>
              <a:rPr lang="en-IN" sz="1800" dirty="0"/>
              <a:t> using machine learning techniques," </a:t>
            </a:r>
            <a:r>
              <a:rPr lang="en-IN" sz="1800" i="1" dirty="0"/>
              <a:t>International Journal of Computer Applications</a:t>
            </a:r>
            <a:r>
              <a:rPr lang="en-IN" sz="1800" dirty="0"/>
              <a:t>, vol. 178, no. 7, pp. 10–15, May 2019.</a:t>
            </a:r>
            <a:br>
              <a:rPr lang="en-IN" sz="1800" dirty="0"/>
            </a:br>
            <a:r>
              <a:rPr lang="en-IN" sz="1800" dirty="0"/>
              <a:t>[2] S. Patel and V. Khanna, "Investor-</a:t>
            </a:r>
            <a:r>
              <a:rPr lang="en-IN" sz="1800" dirty="0" err="1"/>
              <a:t>startup</a:t>
            </a:r>
            <a:r>
              <a:rPr lang="en-IN" sz="1800" dirty="0"/>
              <a:t> matching using NLP-based profiling," </a:t>
            </a:r>
            <a:r>
              <a:rPr lang="en-IN" sz="1800" i="1" dirty="0"/>
              <a:t>IEEE Access</a:t>
            </a:r>
            <a:r>
              <a:rPr lang="en-IN" sz="1800" dirty="0"/>
              <a:t>, vol. 9, pp. 102345–102356, 2021.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Books </a:t>
            </a:r>
            <a:endParaRPr sz="2400" dirty="0">
              <a:solidFill>
                <a:srgbClr val="C00000"/>
              </a:solidFill>
            </a:endParaRPr>
          </a:p>
          <a:p>
            <a:pPr marL="0" lvl="0" indent="0">
              <a:buNone/>
            </a:pPr>
            <a:r>
              <a:rPr lang="en-IN" sz="1800" dirty="0"/>
              <a:t>[1] R. Agarwal, </a:t>
            </a:r>
            <a:r>
              <a:rPr lang="en-IN" sz="1800" i="1" dirty="0"/>
              <a:t>Data Mining Techniques for Marketing, Sales, and CRM</a:t>
            </a:r>
            <a:r>
              <a:rPr lang="en-IN" sz="1800" dirty="0"/>
              <a:t>, Wiley, 2021.</a:t>
            </a:r>
            <a:br>
              <a:rPr lang="en-IN" sz="1800" dirty="0"/>
            </a:br>
            <a:r>
              <a:rPr lang="en-IN" sz="1800" dirty="0"/>
              <a:t>[2] M. Lutz, </a:t>
            </a:r>
            <a:r>
              <a:rPr lang="en-IN" sz="1800" i="1" dirty="0"/>
              <a:t>Programming Python</a:t>
            </a:r>
            <a:r>
              <a:rPr lang="en-IN" sz="1800" dirty="0"/>
              <a:t>, 4th ed., O'Reilly Media, 2021.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Patent </a:t>
            </a:r>
          </a:p>
          <a:p>
            <a:pPr marL="0" lvl="0" indent="0">
              <a:buNone/>
            </a:pPr>
            <a:r>
              <a:rPr lang="en-US" sz="1800" dirty="0">
                <a:solidFill>
                  <a:srgbClr val="C00000"/>
                </a:solidFill>
              </a:rPr>
              <a:t> </a:t>
            </a:r>
            <a:r>
              <a:rPr lang="en-US" sz="1800" dirty="0"/>
              <a:t>[1] J. Smith, “System and method for AI-driven startup-investor matchmaking,” US Patent 10,982,345 B2, Apr. 6, 2021.</a:t>
            </a: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</a:pPr>
            <a:r>
              <a:rPr lang="en-US" sz="2400" dirty="0">
                <a:solidFill>
                  <a:srgbClr val="C00000"/>
                </a:solidFill>
              </a:rPr>
              <a:t>Website</a:t>
            </a:r>
          </a:p>
          <a:p>
            <a:pPr marL="0" lvl="0" indent="0">
              <a:buClr>
                <a:srgbClr val="C00000"/>
              </a:buClr>
              <a:buSzPts val="2400"/>
              <a:buNone/>
            </a:pPr>
            <a:r>
              <a:rPr lang="en-US" sz="1800" dirty="0"/>
              <a:t>[1] M. Sharma, "How AI is transforming startup ecosystems," </a:t>
            </a:r>
            <a:r>
              <a:rPr lang="en-US" sz="1800" i="1" dirty="0"/>
              <a:t>Forbes Tech Council</a:t>
            </a:r>
            <a:r>
              <a:rPr lang="en-US" sz="1800" dirty="0"/>
              <a:t>, </a:t>
            </a:r>
            <a:r>
              <a:rPr lang="en-US" sz="1800" dirty="0">
                <a:solidFill>
                  <a:srgbClr val="0000FF"/>
                </a:solidFill>
              </a:rPr>
              <a:t>https://www.forbes.com/sites/forbestechcouncil/2023/07/10/how-ai-is-transforming-startup-ecosystems/</a:t>
            </a:r>
            <a:r>
              <a:rPr lang="en-US" sz="1800" dirty="0"/>
              <a:t>, accessed Mar. 19, 2025.</a:t>
            </a:r>
            <a:endParaRPr sz="1800" dirty="0"/>
          </a:p>
        </p:txBody>
      </p:sp>
      <p:sp>
        <p:nvSpPr>
          <p:cNvPr id="310" name="Google Shape;310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SECOND REVIEW PRESENTATION</a:t>
            </a:r>
            <a:endParaRPr/>
          </a:p>
        </p:txBody>
      </p:sp>
      <p:sp>
        <p:nvSpPr>
          <p:cNvPr id="311" name="Google Shape;311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12" name="Google Shape;312;p25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br>
              <a:rPr lang="en-US" sz="2400" b="1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1800" b="1">
                <a:solidFill>
                  <a:srgbClr val="00B050"/>
                </a:solidFill>
                <a:latin typeface="Cambria"/>
                <a:ea typeface="Cambria"/>
                <a:cs typeface="Cambria"/>
                <a:sym typeface="Cambria"/>
              </a:rPr>
              <a:t>( Journal Papers/ Books / Website in IEEE Format )</a:t>
            </a:r>
            <a:endParaRPr sz="1800" b="1">
              <a:solidFill>
                <a:srgbClr val="00B05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13" name="Google Shape;31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>
                <a:solidFill>
                  <a:srgbClr val="385623"/>
                </a:solidFill>
              </a:rPr>
              <a:t>19-03-2025</a:t>
            </a:r>
            <a:endParaRPr sz="1800" b="1">
              <a:solidFill>
                <a:srgbClr val="38562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1748</Words>
  <Application>Microsoft Office PowerPoint</Application>
  <PresentationFormat>Widescreen</PresentationFormat>
  <Paragraphs>272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</vt:lpstr>
      <vt:lpstr>Office Theme</vt:lpstr>
      <vt:lpstr>Academic Year 2024 - 25  S5 MINI PROJECT - I Second Review </vt:lpstr>
      <vt:lpstr>AIM &amp; OBJECTIVES OF THE PROJECT  (Problem Statement)</vt:lpstr>
      <vt:lpstr>LITERATURE SURVEY </vt:lpstr>
      <vt:lpstr>LITERATURE SURVEY </vt:lpstr>
      <vt:lpstr>SCOPE OF THE PROJECT</vt:lpstr>
      <vt:lpstr>NEED FOR THE CURRENT STUDY </vt:lpstr>
      <vt:lpstr>PowerPoint Presentation</vt:lpstr>
      <vt:lpstr>PROPOSED METHODOLOGY ( Gantt Chart) </vt:lpstr>
      <vt:lpstr>CHOICE  OF  COMPONENTS  /  MODULES  / METHODS/TECHNIQUES  EQUIPMENT  USED FOR  PROJECT DEVELOPMENT </vt:lpstr>
      <vt:lpstr>DESIGN(S) (HARDWARE / SOFTWARE ARCHITECTURE) </vt:lpstr>
      <vt:lpstr>CONCLUSION</vt:lpstr>
      <vt:lpstr>INDIVIDUAL CONTRIBUTIONS TO THE WORK </vt:lpstr>
      <vt:lpstr>INDIVIDUAL CONTRIBUTIONS TO THE WORK </vt:lpstr>
      <vt:lpstr>INDIVIDUAL CONTRIBUTIONS TO THE WORK </vt:lpstr>
      <vt:lpstr>INDIVIDUAL CONTRIBUTIONS TO THE WORK </vt:lpstr>
      <vt:lpstr>PENDING WORKS AND PLAN FOR COMPLETION  </vt:lpstr>
      <vt:lpstr>PLAN FOR PUBLICATIONS</vt:lpstr>
      <vt:lpstr>Status on Partial Completion and Submission of Project Report</vt:lpstr>
      <vt:lpstr>Submission of Project Report</vt:lpstr>
      <vt:lpstr>PUBLICATIONS (CONFERENCE / JOURNAL / PATENT)</vt:lpstr>
      <vt:lpstr>ORIGINALITY SCORE</vt:lpstr>
      <vt:lpstr>Any Other Relevant Details</vt:lpstr>
      <vt:lpstr>REFERENCES ( Journal Papers/ Books / Website in IEEE Format 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Year 2024 - 25  S5 MINI PROJECT - I Second Review</dc:title>
  <dc:creator>TRC</dc:creator>
  <cp:lastModifiedBy>Sarvesh Sekar</cp:lastModifiedBy>
  <cp:revision>9</cp:revision>
  <dcterms:created xsi:type="dcterms:W3CDTF">2023-07-14T12:21:17Z</dcterms:created>
  <dcterms:modified xsi:type="dcterms:W3CDTF">2025-04-09T04:27:55Z</dcterms:modified>
</cp:coreProperties>
</file>